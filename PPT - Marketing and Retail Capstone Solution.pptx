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63" r:id="rId4"/>
    <p:sldId id="296" r:id="rId5"/>
    <p:sldId id="295" r:id="rId6"/>
    <p:sldId id="297" r:id="rId7"/>
    <p:sldId id="298" r:id="rId8"/>
    <p:sldId id="299" r:id="rId9"/>
    <p:sldId id="300" r:id="rId10"/>
    <p:sldId id="302" r:id="rId11"/>
    <p:sldId id="301" r:id="rId12"/>
    <p:sldId id="303" r:id="rId13"/>
    <p:sldId id="304" r:id="rId14"/>
    <p:sldId id="305" r:id="rId15"/>
    <p:sldId id="306" r:id="rId16"/>
    <p:sldId id="307" r:id="rId17"/>
    <p:sldId id="308" r:id="rId18"/>
    <p:sldId id="3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1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ya Joshi" initials="A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6FC1"/>
    <a:srgbClr val="A2A4A4"/>
    <a:srgbClr val="5999D3"/>
    <a:srgbClr val="254175"/>
    <a:srgbClr val="6D6868"/>
    <a:srgbClr val="005296"/>
    <a:srgbClr val="014D8E"/>
    <a:srgbClr val="00589F"/>
    <a:srgbClr val="005FA8"/>
    <a:srgbClr val="005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3" autoAdjust="0"/>
    <p:restoredTop sz="96208"/>
  </p:normalViewPr>
  <p:slideViewPr>
    <p:cSldViewPr snapToGrid="0" snapToObjects="1" showGuides="1">
      <p:cViewPr varScale="1">
        <p:scale>
          <a:sx n="81" d="100"/>
          <a:sy n="81" d="100"/>
        </p:scale>
        <p:origin x="595" y="62"/>
      </p:cViewPr>
      <p:guideLst>
        <p:guide orient="horz" pos="3748"/>
        <p:guide pos="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>
            <a:fillRect/>
          </a:stretch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l="4619" t="13182" r="3002" b="757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l="1825" t="12803" r="7288" b="46015"/>
          <a:stretch>
            <a:fillRect/>
          </a:stretch>
        </p:blipFill>
        <p:spPr>
          <a:xfrm>
            <a:off x="0" y="0"/>
            <a:ext cx="12192000" cy="361686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3"/>
          <a:srcRect l="4686" t="451" r="7375" b="1"/>
          <a:stretch>
            <a:fillRect/>
          </a:stretch>
        </p:blipFill>
        <p:spPr>
          <a:xfrm rot="20436793">
            <a:off x="-188402" y="2374729"/>
            <a:ext cx="13432426" cy="5601308"/>
          </a:xfrm>
          <a:custGeom>
            <a:avLst/>
            <a:gdLst>
              <a:gd name="connsiteX0" fmla="*/ 12359125 w 13432426"/>
              <a:gd name="connsiteY0" fmla="*/ 0 h 5601308"/>
              <a:gd name="connsiteX1" fmla="*/ 13432426 w 13432426"/>
              <a:gd name="connsiteY1" fmla="*/ 377691 h 5601308"/>
              <a:gd name="connsiteX2" fmla="*/ 13432426 w 13432426"/>
              <a:gd name="connsiteY2" fmla="*/ 778593 h 5601308"/>
              <a:gd name="connsiteX3" fmla="*/ 11735330 w 13432426"/>
              <a:gd name="connsiteY3" fmla="*/ 5601308 h 5601308"/>
              <a:gd name="connsiteX4" fmla="*/ 9605975 w 13432426"/>
              <a:gd name="connsiteY4" fmla="*/ 5601308 h 5601308"/>
              <a:gd name="connsiteX5" fmla="*/ 0 w 13432426"/>
              <a:gd name="connsiteY5" fmla="*/ 2221001 h 5601308"/>
              <a:gd name="connsiteX6" fmla="*/ 781562 w 13432426"/>
              <a:gd name="connsiteY6" fmla="*/ 0 h 560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2426" h="5601308">
                <a:moveTo>
                  <a:pt x="12359125" y="0"/>
                </a:moveTo>
                <a:lnTo>
                  <a:pt x="13432426" y="377691"/>
                </a:lnTo>
                <a:lnTo>
                  <a:pt x="13432426" y="778593"/>
                </a:lnTo>
                <a:lnTo>
                  <a:pt x="11735330" y="5601308"/>
                </a:lnTo>
                <a:lnTo>
                  <a:pt x="9605975" y="5601308"/>
                </a:lnTo>
                <a:lnTo>
                  <a:pt x="0" y="2221001"/>
                </a:lnTo>
                <a:lnTo>
                  <a:pt x="781562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>
            <a:fillRect/>
          </a:stretch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  <p:sp>
        <p:nvSpPr>
          <p:cNvPr id="6" name="Oval 5"/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2BF8E-211B-9C43-825C-0671E50D7E3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FDC9-3D54-674E-86E0-9C3C86728DA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9041" y="1736554"/>
            <a:ext cx="6344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Maiandra GD" panose="020E0502030308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Marketing and Retail Analytics</a:t>
            </a:r>
            <a:endParaRPr lang="en-IN" sz="3600" dirty="0">
              <a:latin typeface="Maiandra GD" panose="020E0502030308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9041" y="1019926"/>
            <a:ext cx="41058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>
                <a:solidFill>
                  <a:schemeClr val="accent1"/>
                </a:solidFill>
                <a:latin typeface="Maiandra GD" panose="020E0502030308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Capstone Project</a:t>
            </a:r>
            <a:endParaRPr lang="en-IN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2060" y="798740"/>
            <a:ext cx="2402505" cy="73866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200" b="1" dirty="0">
                <a:solidFill>
                  <a:schemeClr val="accent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Agenda</a:t>
            </a:r>
            <a:endParaRPr lang="en-US" sz="42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8248" y="1859339"/>
            <a:ext cx="43657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Objectives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Background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Visualizations 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Insights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Recommendations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Appendix – 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 Data Sources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 Data Methodology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aiandra GD" panose="020E0502030308020204" pitchFamily="34" charset="0"/>
              </a:rPr>
              <a:t> Data Assumptions</a:t>
            </a:r>
            <a:endParaRPr lang="en-US" sz="2000" dirty="0">
              <a:solidFill>
                <a:schemeClr val="tx1"/>
              </a:solidFill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6"/>
          <p:cNvSpPr txBox="1"/>
          <p:nvPr/>
        </p:nvSpPr>
        <p:spPr>
          <a:xfrm>
            <a:off x="147917" y="1854412"/>
            <a:ext cx="10874189" cy="288023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Maiandra GD" panose="020E0502030308020204" pitchFamily="34" charset="0"/>
              </a:rPr>
              <a:t>To identify top products that contribute to the revenue and top product category using Pareto Analysis.</a:t>
            </a:r>
            <a:endParaRPr lang="en-US" sz="2000" dirty="0">
              <a:latin typeface="Maiandra GD" panose="020E0502030308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endParaRPr lang="en-US" sz="2000" dirty="0">
              <a:latin typeface="Maiandra GD" panose="020E0502030308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Maiandra GD" panose="020E0502030308020204" pitchFamily="34" charset="0"/>
              </a:rPr>
              <a:t>Improve our understanding with the use of market basket analysis to analyze the purchase behavior of customers.</a:t>
            </a:r>
            <a:endParaRPr lang="en-US" sz="2000" dirty="0">
              <a:latin typeface="Maiandra GD" panose="020E0502030308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endParaRPr lang="en-US" sz="2000" dirty="0">
              <a:latin typeface="Maiandra GD" panose="020E0502030308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Maiandra GD" panose="020E0502030308020204" pitchFamily="34" charset="0"/>
              </a:rPr>
              <a:t>Understand what items are most likely to be purchased individually or in combination with some other products.</a:t>
            </a:r>
            <a:endParaRPr lang="en-US" sz="2000" dirty="0">
              <a:latin typeface="Maiandra GD" panose="020E0502030308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542365" y="793470"/>
            <a:ext cx="2644589" cy="6677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/>
          <p:nvPr/>
        </p:nvSpPr>
        <p:spPr>
          <a:xfrm>
            <a:off x="245888" y="1941042"/>
            <a:ext cx="10875469" cy="297591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000" dirty="0">
                <a:latin typeface="Maiandra GD" panose="020E0502030308020204" pitchFamily="34" charset="0"/>
              </a:rPr>
              <a:t>OList is an e-commerce company that has faced some losses recently and they want to manage their inventory so as to reduce any unnecessary costs.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 Now to be able to meet the demands of the customers, the company would need to store tons and tons of products in warehouses.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 Since storing these products adds to the costs that the company incurs, it is necessary for the organization to plan their inventory well.</a:t>
            </a:r>
            <a:endParaRPr lang="en-US" sz="2000" dirty="0">
              <a:latin typeface="Maiandra GD" panose="020E0502030308020204" pitchFamily="34" charset="0"/>
            </a:endParaRPr>
          </a:p>
          <a:p>
            <a:endParaRPr lang="en-IN" dirty="0"/>
          </a:p>
        </p:txBody>
      </p:sp>
      <p:sp>
        <p:nvSpPr>
          <p:cNvPr id="4" name="Title 1"/>
          <p:cNvSpPr txBox="1"/>
          <p:nvPr/>
        </p:nvSpPr>
        <p:spPr>
          <a:xfrm>
            <a:off x="514829" y="901158"/>
            <a:ext cx="3363045" cy="6700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618562" y="546945"/>
            <a:ext cx="9610165" cy="58398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20 Ordered Products by Quantity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618564" y="4908865"/>
            <a:ext cx="10325100" cy="12285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dirty="0">
                <a:latin typeface="Maiandra GD" panose="020E0502030308020204" pitchFamily="34" charset="0"/>
              </a:rPr>
              <a:t> The highest ordered product is from the Toys category and has been ordered 467 times.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 Most of the products in the Top 20 that are frequently ordered belong to the Toys category.</a:t>
            </a:r>
            <a:endParaRPr lang="en-US" sz="2000" dirty="0">
              <a:latin typeface="Maiandra GD" panose="020E0502030308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563" y="1424154"/>
            <a:ext cx="8086165" cy="33383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02876" y="566713"/>
            <a:ext cx="9350188" cy="7799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20 Ordered Products by Revenue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602876" y="5032852"/>
            <a:ext cx="10576112" cy="12589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000" dirty="0">
                <a:latin typeface="Maiandra GD" panose="020E0502030308020204" pitchFamily="34" charset="0"/>
              </a:rPr>
              <a:t>The highest revenue generation is 63,885 which belongs to the Toys Category.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Most of the products in the Top 20 list generating high revenue belong to the Toys category.</a:t>
            </a:r>
            <a:endParaRPr lang="en-US" sz="2000" dirty="0">
              <a:latin typeface="Maiandra GD" panose="020E0502030308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/>
          <a:srcRect l="1250"/>
          <a:stretch>
            <a:fillRect/>
          </a:stretch>
        </p:blipFill>
        <p:spPr>
          <a:xfrm>
            <a:off x="954241" y="1623635"/>
            <a:ext cx="8647458" cy="31317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479611" y="392508"/>
            <a:ext cx="5882912" cy="5792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 Running Totals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479611" y="5240740"/>
            <a:ext cx="10780059" cy="142486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000" dirty="0">
                <a:latin typeface="Maiandra GD" panose="020E0502030308020204" pitchFamily="34" charset="0"/>
              </a:rPr>
              <a:t>The Percentage of Total Running Revenue and Quantity Ordered has been broken down by   Product Id.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The contribution of each product towards the total revenue can be identified.</a:t>
            </a:r>
            <a:endParaRPr lang="en-IN" sz="2000" dirty="0">
              <a:latin typeface="Maiandra GD" panose="020E0502030308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0397" y="1156447"/>
            <a:ext cx="5091206" cy="38996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304799" y="420312"/>
            <a:ext cx="3639671" cy="5784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Pareto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510988" y="5388334"/>
            <a:ext cx="10309412" cy="12368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Maiandra GD" panose="020E0502030308020204" pitchFamily="34" charset="0"/>
              </a:rPr>
              <a:t>Toys, health_beauty and watches_gift combine generate 80.56% of the revenue.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Toys alone generates 76.23% of the revenue.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The rest of the 70+ product categories generates 19.44% of the revenue. </a:t>
            </a:r>
            <a:endParaRPr lang="en-US" sz="2000" dirty="0">
              <a:latin typeface="Maiandra GD" panose="020E0502030308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3118" y="1086742"/>
            <a:ext cx="4025152" cy="42136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340840" y="340316"/>
            <a:ext cx="3917576" cy="61838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 Pareto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448417" y="5243256"/>
            <a:ext cx="10569206" cy="12383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Maiandra GD" panose="020E0502030308020204" pitchFamily="34" charset="0"/>
              </a:rPr>
              <a:t>Toys, health_beauty and </a:t>
            </a:r>
            <a:r>
              <a:rPr lang="en-US" sz="2000" dirty="0" err="1">
                <a:latin typeface="Maiandra GD" panose="020E0502030308020204" pitchFamily="34" charset="0"/>
              </a:rPr>
              <a:t>bed_bath_table</a:t>
            </a:r>
            <a:r>
              <a:rPr lang="en-US" sz="2000" dirty="0">
                <a:latin typeface="Maiandra GD" panose="020E0502030308020204" pitchFamily="34" charset="0"/>
              </a:rPr>
              <a:t> make up 80.38% of the total orders. 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Toys alone has 75.94% of the total orders. 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The rest of the 70+ product categories generate 19.62% of the total orders.</a:t>
            </a:r>
            <a:endParaRPr lang="en-IN" sz="2000" dirty="0">
              <a:latin typeface="Maiandra GD" panose="020E0502030308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077" y="932826"/>
            <a:ext cx="4037335" cy="41374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439270" y="474544"/>
            <a:ext cx="8866095" cy="47990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Ordered &gt;5 Times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439270" y="5649138"/>
            <a:ext cx="10103224" cy="8426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000" dirty="0">
                <a:latin typeface="Maiandra GD" panose="020E0502030308020204" pitchFamily="34" charset="0"/>
              </a:rPr>
              <a:t>Toys category is the most ordered category with a total of 74,929 orders. 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Health_beauty, bed_bath_table and </a:t>
            </a:r>
            <a:r>
              <a:rPr lang="en-US" sz="2000" dirty="0" err="1">
                <a:latin typeface="Maiandra GD" panose="020E0502030308020204" pitchFamily="34" charset="0"/>
              </a:rPr>
              <a:t>sports_leisure</a:t>
            </a:r>
            <a:r>
              <a:rPr lang="en-US" sz="2000" dirty="0">
                <a:latin typeface="Maiandra GD" panose="020E0502030308020204" pitchFamily="34" charset="0"/>
              </a:rPr>
              <a:t> are the next most ordered category.</a:t>
            </a:r>
            <a:endParaRPr lang="en-IN" sz="2000" dirty="0">
              <a:latin typeface="Maiandra GD" panose="020E0502030308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56" y="1145058"/>
            <a:ext cx="3916252" cy="43134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358587" y="369205"/>
            <a:ext cx="5737413" cy="5639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358587" y="5744531"/>
            <a:ext cx="10829366" cy="927972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4200" dirty="0">
                <a:latin typeface="Maiandra GD" panose="020E0502030308020204" pitchFamily="34" charset="0"/>
              </a:rPr>
              <a:t>Market Basket Analysis is performed to identify the frequently ordered category association. </a:t>
            </a:r>
            <a:endParaRPr lang="en-US" sz="4200" dirty="0">
              <a:latin typeface="Maiandra GD" panose="020E0502030308020204" pitchFamily="34" charset="0"/>
            </a:endParaRPr>
          </a:p>
          <a:p>
            <a:pPr algn="just"/>
            <a:r>
              <a:rPr lang="en-US" sz="4200" dirty="0">
                <a:latin typeface="Maiandra GD" panose="020E0502030308020204" pitchFamily="34" charset="0"/>
              </a:rPr>
              <a:t>Toys are the most ordered category along  with the categories of bed_bath_table, furniture_decor, computers_accessories and health_beauty.</a:t>
            </a:r>
            <a:endParaRPr lang="en-US" sz="4200" dirty="0">
              <a:latin typeface="Maiandra GD" panose="020E0502030308020204" pitchFamily="34" charset="0"/>
            </a:endParaRPr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7258" y="1049956"/>
            <a:ext cx="4312024" cy="44485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914401" y="696687"/>
            <a:ext cx="2052918" cy="6407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475129" y="1719760"/>
            <a:ext cx="10488706" cy="374871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Maiandra GD" panose="020E0502030308020204" pitchFamily="34" charset="0"/>
              </a:rPr>
              <a:t>The category Toys constitute 20% of the products which generates 80% of the revenue. 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It can be seen that even if the price of the certain products is high, it is still bought by the customer more often.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Apart from Toys, the products from the categories of bed_bath_table, furniture_decor, computers_accessories and health_beauty are the most frequently ordered. The above categories with Toys or/and with each other are most frequent in customers’ basket.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It is observed that despite of the high price, some products are frequently purchased by the customers.</a:t>
            </a:r>
            <a:endParaRPr lang="en-IN" sz="2000" dirty="0">
              <a:latin typeface="Maiandra GD" panose="020E0502030308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779929" y="732692"/>
            <a:ext cx="4303059" cy="62097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484093" y="1688840"/>
            <a:ext cx="10703859" cy="348031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Maiandra GD" panose="020E0502030308020204" pitchFamily="34" charset="0"/>
              </a:rPr>
              <a:t>The company should focus on the categories which generate more than 80% of the revenue by always keeping them in stock.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The company should target customers who are more likely to buy toys to boost sales as the category toys is the most ordered category.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Offer promo-codes or discounts on the frequently ordered category associations to encourage cross selling among the products.</a:t>
            </a:r>
            <a:endParaRPr lang="en-US" sz="2000" dirty="0">
              <a:latin typeface="Maiandra GD" panose="020E0502030308020204" pitchFamily="34" charset="0"/>
            </a:endParaRPr>
          </a:p>
          <a:p>
            <a:pPr algn="just"/>
            <a:endParaRPr lang="en-US" sz="2000" dirty="0">
              <a:latin typeface="Maiandra GD" panose="020E0502030308020204" pitchFamily="34" charset="0"/>
            </a:endParaRPr>
          </a:p>
          <a:p>
            <a:pPr algn="just"/>
            <a:r>
              <a:rPr lang="en-US" sz="2000" dirty="0">
                <a:latin typeface="Maiandra GD" panose="020E0502030308020204" pitchFamily="34" charset="0"/>
              </a:rPr>
              <a:t>The company can reduce some of the sub categories which have very low sales.</a:t>
            </a:r>
            <a:endParaRPr lang="en-IN" sz="2000" dirty="0">
              <a:latin typeface="Maiandra GD" panose="020E0502030308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672353" y="732801"/>
            <a:ext cx="5638800" cy="57834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Appendix - Data Sources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376517" y="1780958"/>
            <a:ext cx="10327341" cy="329608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600" dirty="0">
                <a:latin typeface="Maiandra GD" panose="020E0502030308020204" pitchFamily="34" charset="0"/>
              </a:rPr>
              <a:t>Here is a snapshot of our data dictionary: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>
              <a:lnSpc>
                <a:spcPct val="100000"/>
              </a:lnSpc>
              <a:buSzPct val="65000"/>
              <a:buFont typeface="Courier New" panose="02070309020205020404" pitchFamily="49" charset="0"/>
              <a:buChar char="o"/>
            </a:pPr>
            <a:r>
              <a:rPr lang="en-US" sz="2600" dirty="0">
                <a:latin typeface="Maiandra GD" panose="020E0502030308020204" pitchFamily="34" charset="0"/>
              </a:rPr>
              <a:t>Order details such as order id, order status, order purchased timestamp, etc.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>
              <a:lnSpc>
                <a:spcPct val="100000"/>
              </a:lnSpc>
              <a:buSzPct val="65000"/>
              <a:buFont typeface="Courier New" panose="02070309020205020404" pitchFamily="49" charset="0"/>
              <a:buChar char="o"/>
            </a:pPr>
            <a:r>
              <a:rPr lang="en-US" sz="2600" dirty="0">
                <a:latin typeface="Maiandra GD" panose="020E0502030308020204" pitchFamily="34" charset="0"/>
              </a:rPr>
              <a:t>Order Items detail such as order item id, seller id, price, shipping charges, etc.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>
              <a:lnSpc>
                <a:spcPct val="100000"/>
              </a:lnSpc>
              <a:buSzPct val="65000"/>
              <a:buFont typeface="Courier New" panose="02070309020205020404" pitchFamily="49" charset="0"/>
              <a:buChar char="o"/>
            </a:pPr>
            <a:r>
              <a:rPr lang="en-US" sz="2600" dirty="0">
                <a:latin typeface="Maiandra GD" panose="020E0502030308020204" pitchFamily="34" charset="0"/>
              </a:rPr>
              <a:t>Customer details such as customer is, customer city, customer state, etc.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>
              <a:lnSpc>
                <a:spcPct val="100000"/>
              </a:lnSpc>
              <a:buSzPct val="65000"/>
              <a:buFont typeface="Courier New" panose="02070309020205020404" pitchFamily="49" charset="0"/>
              <a:buChar char="o"/>
            </a:pPr>
            <a:r>
              <a:rPr lang="en-US" sz="2600" dirty="0">
                <a:latin typeface="Maiandra GD" panose="020E0502030308020204" pitchFamily="34" charset="0"/>
              </a:rPr>
              <a:t>Payment details such as payment type, payment value, etc.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>
              <a:lnSpc>
                <a:spcPct val="100000"/>
              </a:lnSpc>
              <a:buSzPct val="65000"/>
              <a:buFont typeface="Courier New" panose="02070309020205020404" pitchFamily="49" charset="0"/>
              <a:buChar char="o"/>
            </a:pPr>
            <a:r>
              <a:rPr lang="en-US" sz="2600" dirty="0">
                <a:latin typeface="Maiandra GD" panose="020E0502030308020204" pitchFamily="34" charset="0"/>
              </a:rPr>
              <a:t>Product details such as product id, product category name, product dimensions, etc.</a:t>
            </a:r>
            <a:endParaRPr lang="en-US" sz="2600" dirty="0">
              <a:latin typeface="Maiandra GD" panose="020E0502030308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latin typeface="Maiandra GD" panose="020E0502030308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Maiandra GD" panose="020E0502030308020204" pitchFamily="34" charset="0"/>
              </a:rPr>
              <a:t>The following data sources were used: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>
              <a:lnSpc>
                <a:spcPct val="100000"/>
              </a:lnSpc>
              <a:buSzPct val="70000"/>
              <a:buFont typeface="Courier New" panose="02070309020205020404" pitchFamily="49" charset="0"/>
              <a:buChar char="o"/>
            </a:pPr>
            <a:r>
              <a:rPr lang="en-US" sz="2600" dirty="0">
                <a:latin typeface="Maiandra GD" panose="020E0502030308020204" pitchFamily="34" charset="0"/>
              </a:rPr>
              <a:t>OList retail dataset containing order-related information.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>
              <a:lnSpc>
                <a:spcPct val="100000"/>
              </a:lnSpc>
              <a:buSzPct val="70000"/>
              <a:buFont typeface="Courier New" panose="02070309020205020404" pitchFamily="49" charset="0"/>
              <a:buChar char="o"/>
            </a:pPr>
            <a:r>
              <a:rPr lang="en-US" sz="2600" dirty="0">
                <a:latin typeface="Maiandra GD" panose="020E0502030308020204" pitchFamily="34" charset="0"/>
              </a:rPr>
              <a:t>The data consisted for the year 2016 to 2018.</a:t>
            </a:r>
            <a:endParaRPr lang="en-US" sz="2600" dirty="0">
              <a:latin typeface="Maiandra GD" panose="020E0502030308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54423" y="811764"/>
            <a:ext cx="6822141" cy="62515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Appendix - Data Methodology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457198" y="1654995"/>
            <a:ext cx="10694896" cy="4503757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dirty="0">
                <a:latin typeface="Maiandra GD" panose="020E0502030308020204" pitchFamily="34" charset="0"/>
              </a:rPr>
              <a:t>A thorough analysis of the OList Retail Dataset was conducted. The process included:</a:t>
            </a:r>
            <a:endParaRPr lang="en-US" sz="2600" dirty="0">
              <a:latin typeface="Maiandra GD" panose="020E0502030308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r>
              <a:rPr lang="en-US" sz="2600" dirty="0">
                <a:latin typeface="Maiandra GD" panose="020E0502030308020204" pitchFamily="34" charset="0"/>
              </a:rPr>
              <a:t>The dataset was cleaned and transformed using the python libraries of Pandas and NumPy in the Jupyter Notebook.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r>
              <a:rPr lang="en-US" sz="2600" dirty="0">
                <a:latin typeface="Maiandra GD" panose="020E0502030308020204" pitchFamily="34" charset="0"/>
              </a:rPr>
              <a:t>The missing values for the various columns were replaced with the best values.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r>
              <a:rPr lang="en-US" sz="2600" dirty="0">
                <a:latin typeface="Maiandra GD" panose="020E0502030308020204" pitchFamily="34" charset="0"/>
              </a:rPr>
              <a:t>The redundant and duplicate records were discarded and only first occurrence is kept.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r>
              <a:rPr lang="en-US" sz="2600" dirty="0">
                <a:latin typeface="Maiandra GD" panose="020E0502030308020204" pitchFamily="34" charset="0"/>
              </a:rPr>
              <a:t>Exploratory data analysis was done using the python libraries of Matplotlib and Seaborn in the Jupyter Notebook.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r>
              <a:rPr lang="en-US" sz="2600" dirty="0">
                <a:latin typeface="Maiandra GD" panose="020E0502030308020204" pitchFamily="34" charset="0"/>
              </a:rPr>
              <a:t>A new dataset consisting of order id and product category name was created for Market Basket Analysis.</a:t>
            </a:r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endParaRPr lang="en-US" sz="2600" dirty="0">
              <a:latin typeface="Maiandra GD" panose="020E0502030308020204" pitchFamily="34" charset="0"/>
            </a:endParaRPr>
          </a:p>
          <a:p>
            <a:pPr lvl="1" algn="just"/>
            <a:r>
              <a:rPr lang="en-US" sz="2600" dirty="0">
                <a:latin typeface="Maiandra GD" panose="020E0502030308020204" pitchFamily="34" charset="0"/>
              </a:rPr>
              <a:t>Various visualizations and Market Basket Analysis was conducted in Tableau.</a:t>
            </a:r>
            <a:endParaRPr lang="en-IN" sz="2600" dirty="0">
              <a:latin typeface="Maiandra GD" panose="020E0502030308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778062" y="967274"/>
            <a:ext cx="6841938" cy="60155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Appendix - Data Assumptions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679450" y="1886249"/>
            <a:ext cx="9925797" cy="338499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Maiandra GD" panose="020E0502030308020204" pitchFamily="34" charset="0"/>
              </a:rPr>
              <a:t>Only the cases having order status as ‘delivered’ are considered.</a:t>
            </a:r>
            <a:endParaRPr lang="en-US" sz="2000" dirty="0">
              <a:latin typeface="Maiandra GD" panose="020E0502030308020204" pitchFamily="34" charset="0"/>
            </a:endParaRPr>
          </a:p>
          <a:p>
            <a:endParaRPr lang="en-US" sz="2000" dirty="0">
              <a:latin typeface="Maiandra GD" panose="020E0502030308020204" pitchFamily="34" charset="0"/>
            </a:endParaRPr>
          </a:p>
          <a:p>
            <a:r>
              <a:rPr lang="en-US" sz="2000" dirty="0">
                <a:latin typeface="Maiandra GD" panose="020E0502030308020204" pitchFamily="34" charset="0"/>
              </a:rPr>
              <a:t>We assumed that the data provided was achieving the desired revenue.</a:t>
            </a:r>
            <a:endParaRPr lang="en-US" sz="2000" dirty="0">
              <a:latin typeface="Maiandra GD" panose="020E0502030308020204" pitchFamily="34" charset="0"/>
            </a:endParaRPr>
          </a:p>
          <a:p>
            <a:endParaRPr lang="en-US" sz="2000" dirty="0">
              <a:latin typeface="Maiandra GD" panose="020E0502030308020204" pitchFamily="34" charset="0"/>
            </a:endParaRPr>
          </a:p>
          <a:p>
            <a:r>
              <a:rPr lang="en-US" sz="2000" dirty="0">
                <a:latin typeface="Maiandra GD" panose="020E0502030308020204" pitchFamily="34" charset="0"/>
              </a:rPr>
              <a:t>We assumed that the company does not want to expand to new warehouses.</a:t>
            </a:r>
            <a:endParaRPr lang="en-US" sz="2000" dirty="0">
              <a:latin typeface="Maiandra GD" panose="020E0502030308020204" pitchFamily="34" charset="0"/>
            </a:endParaRPr>
          </a:p>
          <a:p>
            <a:endParaRPr lang="en-US" sz="2000" dirty="0">
              <a:latin typeface="Maiandra GD" panose="020E0502030308020204" pitchFamily="34" charset="0"/>
            </a:endParaRPr>
          </a:p>
          <a:p>
            <a:r>
              <a:rPr lang="en-US" sz="2000" dirty="0">
                <a:latin typeface="Maiandra GD" panose="020E0502030308020204" pitchFamily="34" charset="0"/>
              </a:rPr>
              <a:t>The company’s strategies are decided considering there is constant growth in sales.</a:t>
            </a:r>
            <a:endParaRPr lang="en-IN" sz="2000" dirty="0">
              <a:latin typeface="Maiandra GD" panose="020E0502030308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3172572" y="2610692"/>
            <a:ext cx="5326904" cy="11320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accent1"/>
                </a:solidFill>
                <a:latin typeface="Maiandra GD" panose="020E0502030308020204" pitchFamily="34" charset="0"/>
              </a:rPr>
              <a:t>Thank You</a:t>
            </a:r>
            <a:endParaRPr lang="en-IN" sz="6600" dirty="0"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4996</Words>
  <Application>WPS Slides</Application>
  <PresentationFormat>Widescreen</PresentationFormat>
  <Paragraphs>137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Maiandra GD</vt:lpstr>
      <vt:lpstr>Tahoma</vt:lpstr>
      <vt:lpstr>Times New Roman</vt:lpstr>
      <vt:lpstr>Courier New</vt:lpstr>
      <vt:lpstr>Calibri</vt:lpstr>
      <vt:lpstr>Microsoft YaHei</vt:lpstr>
      <vt:lpstr>Arial Unicode MS</vt:lpstr>
      <vt:lpstr>Calibri Light</vt:lpstr>
      <vt:lpstr>Custom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P</dc:creator>
  <cp:lastModifiedBy>priyadarshan</cp:lastModifiedBy>
  <cp:revision>77</cp:revision>
  <dcterms:created xsi:type="dcterms:W3CDTF">2019-12-31T09:37:00Z</dcterms:created>
  <dcterms:modified xsi:type="dcterms:W3CDTF">2025-05-02T11:24:35Z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5D7BA3C4A1A44ECF89A4817E2D9F1149_12</vt:lpwstr>
  </property>
  <property fmtid="{D5CDD505-2E9C-101B-9397-08002B2CF9AE}" pid="3" name="KSOProductBuildVer">
    <vt:lpwstr>1033-12.2.0.20795</vt:lpwstr>
  </property>
</Properties>
</file>